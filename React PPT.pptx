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821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043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832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100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62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02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67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368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586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2906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79520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120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340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315250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929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84418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2591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313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0438850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0629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0407219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94508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287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15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520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33135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6611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F42D7DD-C01A-4993-8E5D-0ACA6ADD1D6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60FAC7C-0197-49CA-A809-3951460D0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1477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93C7D0-F19D-F704-1D57-041CAA313E93}"/>
              </a:ext>
            </a:extLst>
          </p:cNvPr>
          <p:cNvSpPr txBox="1"/>
          <p:nvPr/>
        </p:nvSpPr>
        <p:spPr>
          <a:xfrm>
            <a:off x="1809345" y="1734553"/>
            <a:ext cx="878407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React components are functional components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kern="1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kern="100">
                <a:ea typeface="Calibri" panose="020F0502020204030204" pitchFamily="34" charset="0"/>
                <a:cs typeface="Times New Roman" panose="02020603050405020304" pitchFamily="18" charset="0"/>
              </a:rPr>
              <a:t>React functions accept input , perform some task in the function body and return one packet containing UI which is displayed in the browser</a:t>
            </a:r>
            <a:endParaRPr lang="en-US" sz="28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kern="1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React App is a collection of components</a:t>
            </a:r>
          </a:p>
          <a:p>
            <a:pPr>
              <a:buNone/>
            </a:pPr>
            <a:endParaRPr lang="en-IN" sz="2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819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E9BA1-F63D-7C2F-1284-A0241A6EE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8B958A-F8B5-5582-DAA7-D5FBB1FC0726}"/>
              </a:ext>
            </a:extLst>
          </p:cNvPr>
          <p:cNvSpPr txBox="1"/>
          <p:nvPr/>
        </p:nvSpPr>
        <p:spPr>
          <a:xfrm>
            <a:off x="1274323" y="428178"/>
            <a:ext cx="1005839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Props</a:t>
            </a: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properties</a:t>
            </a:r>
          </a:p>
          <a:p>
            <a:pPr>
              <a:buNone/>
            </a:pPr>
            <a:endParaRPr lang="en-IN" sz="24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Props are like parameter to function which make components versatile</a:t>
            </a:r>
            <a:endParaRPr lang="en-IN" sz="24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Props is to be mentioned while defining the component</a:t>
            </a:r>
            <a:endParaRPr lang="en-IN" sz="24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At the point of calling the components, props are to be passed as key value pairs </a:t>
            </a:r>
            <a:endParaRPr lang="en-IN" sz="24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The component receives key value pairs as an object and stores the object as a name like props</a:t>
            </a:r>
            <a:endParaRPr lang="en-IN" sz="24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The values can now be accessed with dot notation eg  props.id, props.section, props.name etc</a:t>
            </a:r>
            <a:endParaRPr lang="en-IN" sz="24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24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Props drilling is passing props down to child components. Eg component A calls component B and passes the props to component B. now component B calls component C then it passes the props to component C so that C can use the prop.</a:t>
            </a:r>
            <a:endParaRPr lang="en-IN" sz="24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497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36515-6DF6-3823-C592-ECDBF5775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C6875A-805E-4020-986E-3BA2C1426EB8}"/>
              </a:ext>
            </a:extLst>
          </p:cNvPr>
          <p:cNvSpPr txBox="1"/>
          <p:nvPr/>
        </p:nvSpPr>
        <p:spPr>
          <a:xfrm>
            <a:off x="2140084" y="274290"/>
            <a:ext cx="8093414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React Hooks</a:t>
            </a:r>
            <a:endParaRPr lang="en-IN" sz="28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28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Hooks are functions or features of React </a:t>
            </a:r>
            <a:endParaRPr lang="en-IN" sz="28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kern="100">
                <a:ea typeface="Calibri" panose="020F0502020204030204" pitchFamily="34" charset="0"/>
                <a:cs typeface="Times New Roman" panose="02020603050405020304" pitchFamily="18" charset="0"/>
              </a:rPr>
              <a:t>Whenever we need any of the hook, it should be imported above the component function definition</a:t>
            </a:r>
          </a:p>
          <a:p>
            <a:pPr>
              <a:buNone/>
            </a:pPr>
            <a:endParaRPr lang="en-IN" sz="28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5 Basic Hooks are as follows</a:t>
            </a:r>
            <a:endParaRPr lang="en-IN" sz="28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sz="36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useState(), </a:t>
            </a:r>
          </a:p>
          <a:p>
            <a:pPr lvl="1"/>
            <a:r>
              <a:rPr lang="en-US" sz="36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useEffect(), </a:t>
            </a:r>
          </a:p>
          <a:p>
            <a:pPr lvl="1"/>
            <a:r>
              <a:rPr lang="en-US" sz="36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useRef(), </a:t>
            </a:r>
          </a:p>
          <a:p>
            <a:pPr lvl="1"/>
            <a:r>
              <a:rPr lang="en-US" sz="36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useMemo(), </a:t>
            </a:r>
          </a:p>
          <a:p>
            <a:pPr lvl="1"/>
            <a:r>
              <a:rPr lang="en-US" sz="36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useCallback()</a:t>
            </a:r>
            <a:endParaRPr lang="en-IN" sz="3600" kern="100">
              <a:solidFill>
                <a:srgbClr val="FF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477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0EE1D-8D40-C3AF-A820-0F68521E1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67A799-708A-AAFE-205D-F0249F27A07C}"/>
              </a:ext>
            </a:extLst>
          </p:cNvPr>
          <p:cNvSpPr txBox="1"/>
          <p:nvPr/>
        </p:nvSpPr>
        <p:spPr>
          <a:xfrm>
            <a:off x="1460771" y="380497"/>
            <a:ext cx="9270458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useState </a:t>
            </a:r>
          </a:p>
          <a:p>
            <a:pPr>
              <a:buNone/>
            </a:pPr>
            <a:endParaRPr lang="en-IN" sz="3200" kern="100">
              <a:solidFill>
                <a:srgbClr val="FFFF0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State are variable(any type like number, string, boolean, object, array) associated with React Component eg count , name, section</a:t>
            </a:r>
          </a:p>
          <a:p>
            <a:pPr lvl="0"/>
            <a:r>
              <a:rPr lang="en-US" sz="2800" i="1" kern="10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	Syntax :  const [count, setCount] = useSate(0)</a:t>
            </a:r>
            <a:endParaRPr lang="en-IN" sz="2800" i="1" kern="100">
              <a:solidFill>
                <a:srgbClr val="00B05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Variable can be changed with setter function eg setCount, setName, setSection</a:t>
            </a:r>
          </a:p>
          <a:p>
            <a:pPr lvl="0"/>
            <a:r>
              <a:rPr lang="en-US" sz="2800" kern="100">
                <a:ea typeface="Calibri" panose="020F0502020204030204" pitchFamily="34" charset="0"/>
                <a:cs typeface="Times New Roman" panose="02020603050405020304" pitchFamily="18" charset="0"/>
              </a:rPr>
              <a:t>	 </a:t>
            </a:r>
            <a:r>
              <a:rPr lang="en-US" sz="2800" kern="100">
                <a:solidFill>
                  <a:srgbClr val="FFFF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setCount(count+1)  // in setCount, C is capital </a:t>
            </a:r>
          </a:p>
          <a:p>
            <a:pPr lvl="0"/>
            <a:r>
              <a:rPr lang="en-US" sz="2800" kern="100">
                <a:solidFill>
                  <a:srgbClr val="FFFF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8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setCount((pc) =&gt; pc +1 )</a:t>
            </a:r>
          </a:p>
          <a:p>
            <a:pPr lvl="0"/>
            <a:r>
              <a:rPr lang="en-US" sz="2800" kern="100">
                <a:solidFill>
                  <a:srgbClr val="FFFF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     	 pc stands for previous count</a:t>
            </a:r>
            <a:endParaRPr lang="en-IN" sz="2800" kern="100">
              <a:solidFill>
                <a:srgbClr val="FFFF0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If any state of the component is changed, the component get refreshed/ re-rendered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kern="100">
                <a:ea typeface="Calibri" panose="020F0502020204030204" pitchFamily="34" charset="0"/>
                <a:cs typeface="Times New Roman" panose="02020603050405020304" pitchFamily="18" charset="0"/>
              </a:rPr>
              <a:t>Changed values remain available during re-render</a:t>
            </a:r>
            <a:endParaRPr lang="en-IN" sz="2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14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0DCE2-91E6-0DFD-D05B-34CBE47EA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C61613-38E4-CD45-977B-7497C58BEB63}"/>
              </a:ext>
            </a:extLst>
          </p:cNvPr>
          <p:cNvSpPr txBox="1"/>
          <p:nvPr/>
        </p:nvSpPr>
        <p:spPr>
          <a:xfrm>
            <a:off x="1400783" y="441255"/>
            <a:ext cx="967902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useRef </a:t>
            </a:r>
          </a:p>
          <a:p>
            <a:pPr>
              <a:buNone/>
            </a:pPr>
            <a:endParaRPr lang="en-IN" sz="3200" kern="100">
              <a:solidFill>
                <a:srgbClr val="FFFF0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Ref is like State : the changed value survives during re-render</a:t>
            </a:r>
          </a:p>
          <a:p>
            <a:pPr lvl="0"/>
            <a:r>
              <a:rPr lang="en-US" sz="2800" kern="100"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2800" i="1" kern="100">
                <a:solidFill>
                  <a:srgbClr val="00B05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Syntax : const inputRef = useRef(“0”)</a:t>
            </a:r>
            <a:endParaRPr lang="en-IN" sz="2800" i="1" kern="100">
              <a:solidFill>
                <a:srgbClr val="00B05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Ref value can be changed with current property of Ref eg </a:t>
            </a:r>
          </a:p>
          <a:p>
            <a:pPr lvl="0"/>
            <a:r>
              <a:rPr lang="en-US" sz="2800" kern="100"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8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count.current = count.current+1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kern="100">
                <a:ea typeface="Calibri" panose="020F0502020204030204" pitchFamily="34" charset="0"/>
                <a:cs typeface="Times New Roman" panose="02020603050405020304" pitchFamily="18" charset="0"/>
              </a:rPr>
              <a:t>change in ref value does not re-render the component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kern="1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kern="100">
                <a:ea typeface="Calibri" panose="020F0502020204030204" pitchFamily="34" charset="0"/>
                <a:cs typeface="Times New Roman" panose="02020603050405020304" pitchFamily="18" charset="0"/>
              </a:rPr>
              <a:t>Diff between useState and useRef is useState re-renders and useRef does not re-render the component</a:t>
            </a:r>
            <a:endParaRPr lang="en-IN" sz="28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28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841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6732C-4943-6AE0-0455-14F3D9FFF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C4296D-F48A-2C5A-FE27-5686E449D21E}"/>
              </a:ext>
            </a:extLst>
          </p:cNvPr>
          <p:cNvSpPr txBox="1"/>
          <p:nvPr/>
        </p:nvSpPr>
        <p:spPr>
          <a:xfrm>
            <a:off x="1694234" y="120402"/>
            <a:ext cx="8803531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useEffect  ( side-effect / side-code )</a:t>
            </a:r>
          </a:p>
          <a:p>
            <a:pPr>
              <a:buNone/>
            </a:pPr>
            <a:endParaRPr lang="en-IN" sz="28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Is used when component needs action that requires moving out of virtual DOM</a:t>
            </a:r>
            <a:endParaRPr lang="en-IN" sz="28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Eg receiving data from local storage or receiving data from backend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i="1" kern="10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Syntax : useEffect( ( ) =&gt;{ } ,  [ ] )</a:t>
            </a:r>
            <a:endParaRPr lang="en-IN" sz="32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Also used to access DOM directly like changing theme colors of the whole page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kern="100">
                <a:ea typeface="Calibri" panose="020F0502020204030204" pitchFamily="34" charset="0"/>
                <a:cs typeface="Times New Roman" panose="02020603050405020304" pitchFamily="18" charset="0"/>
              </a:rPr>
              <a:t>This side code is executed once or more than once </a:t>
            </a:r>
            <a:r>
              <a:rPr lang="en-US" sz="2800" u="sng" kern="100">
                <a:solidFill>
                  <a:srgbClr val="FFFF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based on dependency array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kern="10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dependency array is empty then </a:t>
            </a:r>
            <a:r>
              <a:rPr lang="en-US" sz="2800" kern="10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side code runs only once and if dependency array contains values then the code runs on every change of value inside array.</a:t>
            </a:r>
          </a:p>
          <a:p>
            <a:pPr lvl="0"/>
            <a:r>
              <a:rPr lang="en-US" sz="2800" kern="10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IN" sz="3200" i="1" kern="10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156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8F082-61AF-81D1-B0B3-693A90C0B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1493C-9760-6D0E-9A43-19B37769B0E5}"/>
              </a:ext>
            </a:extLst>
          </p:cNvPr>
          <p:cNvSpPr txBox="1"/>
          <p:nvPr/>
        </p:nvSpPr>
        <p:spPr>
          <a:xfrm>
            <a:off x="1031132" y="612844"/>
            <a:ext cx="1044750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useMemo and useEffect are used for </a:t>
            </a:r>
            <a:r>
              <a:rPr lang="en-US" sz="28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performance through memoization while re-rendering of components.</a:t>
            </a:r>
            <a:endParaRPr lang="en-IN" sz="2800" kern="100">
              <a:solidFill>
                <a:srgbClr val="FFFF00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IN" sz="28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Memoization</a:t>
            </a:r>
            <a:r>
              <a:rPr lang="en-IN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is an optimization technique used in computer programming to speed up programs by </a:t>
            </a:r>
            <a:r>
              <a:rPr lang="en-IN" sz="28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caching (storing) the results </a:t>
            </a:r>
            <a:r>
              <a:rPr lang="en-IN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of expensive function calls.</a:t>
            </a:r>
          </a:p>
          <a:p>
            <a:pPr>
              <a:buNone/>
            </a:pPr>
            <a:r>
              <a:rPr lang="en-IN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When the function is called </a:t>
            </a:r>
            <a:r>
              <a:rPr lang="en-IN" sz="2800" kern="10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with the </a:t>
            </a:r>
            <a:r>
              <a:rPr lang="en-IN" sz="28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exact same inputs again</a:t>
            </a:r>
            <a:r>
              <a:rPr lang="en-IN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the program skips the hard work and instantly returns the saved result</a:t>
            </a:r>
          </a:p>
          <a:p>
            <a:pPr>
              <a:buNone/>
            </a:pPr>
            <a:r>
              <a:rPr lang="en-IN" sz="28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buNone/>
            </a:pPr>
            <a:r>
              <a:rPr lang="en-IN" sz="28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useMemo memoizes calulation results</a:t>
            </a:r>
          </a:p>
          <a:p>
            <a:pPr>
              <a:buNone/>
            </a:pPr>
            <a:r>
              <a:rPr lang="en-IN" sz="28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useCallback memoizes function definition/recipe itself</a:t>
            </a:r>
            <a:endParaRPr lang="en-IN" sz="2800" kern="100">
              <a:solidFill>
                <a:srgbClr val="FF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646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2D409-D6AF-2CAA-3AF1-D018F0630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DC96B2-B1BA-813C-870E-6D040B391824}"/>
              </a:ext>
            </a:extLst>
          </p:cNvPr>
          <p:cNvSpPr txBox="1"/>
          <p:nvPr/>
        </p:nvSpPr>
        <p:spPr>
          <a:xfrm>
            <a:off x="1303505" y="784553"/>
            <a:ext cx="934828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u="sng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State-lifting</a:t>
            </a:r>
            <a:r>
              <a:rPr lang="en-IN" sz="3200" kern="100">
                <a:solidFill>
                  <a:srgbClr val="FFFF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</a:p>
          <a:p>
            <a:pPr>
              <a:buNone/>
            </a:pPr>
            <a:endParaRPr lang="en-IN" sz="3200" kern="10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200" kern="100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IN" sz="32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tate is a vaiable. State lifting means lifting the state from component to its parent component so that another child/desendent of the same parent can use the same state. </a:t>
            </a:r>
          </a:p>
          <a:p>
            <a:pPr>
              <a:buNone/>
            </a:pPr>
            <a:endParaRPr lang="en-IN" sz="3200" kern="10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200" kern="10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It is like siblings / relatives can not communicate with each other but they can communicate through parent.</a:t>
            </a:r>
            <a:endParaRPr lang="en-IN" sz="32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640708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96</TotalTime>
  <Words>613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Neue Haas Grotesk Text Pro</vt:lpstr>
      <vt:lpstr>Symbol</vt:lpstr>
      <vt:lpstr>Wingdings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22</cp:revision>
  <dcterms:created xsi:type="dcterms:W3CDTF">2026-09-08T02:03:00Z</dcterms:created>
  <dcterms:modified xsi:type="dcterms:W3CDTF">2026-09-08T06:39:25Z</dcterms:modified>
</cp:coreProperties>
</file>